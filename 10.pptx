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Fraunces ExtraBold" panose="020B0604020202020204" charset="0"/>
      <p:regular r:id="rId13"/>
    </p:embeddedFont>
    <p:embeddedFont>
      <p:font typeface="Nobile"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572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E1"/>
          </a:solidFill>
          <a:ln/>
        </p:spPr>
      </p:sp>
      <p:sp>
        <p:nvSpPr>
          <p:cNvPr id="3" name="Shape 1"/>
          <p:cNvSpPr/>
          <p:nvPr/>
        </p:nvSpPr>
        <p:spPr>
          <a:xfrm>
            <a:off x="0" y="0"/>
            <a:ext cx="12191695" cy="68580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508224"/>
            <a:ext cx="6296860" cy="2953246"/>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3B4540"/>
                </a:solidFill>
                <a:latin typeface="Fraunces ExtraBold" pitchFamily="34" charset="0"/>
                <a:ea typeface="Fraunces ExtraBold" pitchFamily="34" charset="-122"/>
                <a:cs typeface="Fraunces ExtraBold" pitchFamily="34" charset="-120"/>
              </a:rPr>
              <a:t>IoT-Based Smart Irrigation System for Automated Water Supply Control Using Soil Moisture Monitoring</a:t>
            </a:r>
            <a:endParaRPr lang="en-US" sz="3700" dirty="0"/>
          </a:p>
        </p:txBody>
      </p:sp>
      <p:sp>
        <p:nvSpPr>
          <p:cNvPr id="4" name="Text 1"/>
          <p:cNvSpPr/>
          <p:nvPr/>
        </p:nvSpPr>
        <p:spPr>
          <a:xfrm>
            <a:off x="5233360" y="4744938"/>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5449"/>
                </a:solidFill>
                <a:latin typeface="Nobile" pitchFamily="34" charset="0"/>
                <a:ea typeface="Nobile" pitchFamily="34" charset="-122"/>
                <a:cs typeface="Nobile" pitchFamily="34" charset="-120"/>
              </a:rPr>
              <a:t>An IoT-enabled agricultural irrigation management system designed to automate water supply based on real-time soil conditions.</a:t>
            </a:r>
            <a:endParaRPr lang="en-US" sz="1450" dirty="0"/>
          </a:p>
        </p:txBody>
      </p:sp>
      <p:sp>
        <p:nvSpPr>
          <p:cNvPr id="5" name="TextBox 4">
            <a:extLst>
              <a:ext uri="{FF2B5EF4-FFF2-40B4-BE49-F238E27FC236}">
                <a16:creationId xmlns:a16="http://schemas.microsoft.com/office/drawing/2014/main" id="{2232243C-6A81-8EAB-0ABA-BBBC28C36089}"/>
              </a:ext>
            </a:extLst>
          </p:cNvPr>
          <p:cNvSpPr txBox="1"/>
          <p:nvPr/>
        </p:nvSpPr>
        <p:spPr>
          <a:xfrm>
            <a:off x="9573208" y="6193008"/>
            <a:ext cx="2176237" cy="646331"/>
          </a:xfrm>
          <a:prstGeom prst="rect">
            <a:avLst/>
          </a:prstGeom>
          <a:noFill/>
        </p:spPr>
        <p:txBody>
          <a:bodyPr wrap="square" rtlCol="0">
            <a:spAutoFit/>
          </a:bodyPr>
          <a:lstStyle/>
          <a:p>
            <a:r>
              <a:rPr lang="en-IN" dirty="0"/>
              <a:t>KUVALA SIVA KUMAR</a:t>
            </a:r>
          </a:p>
          <a:p>
            <a:r>
              <a:rPr lang="en-IN" dirty="0"/>
              <a:t>323129520010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66043"/>
            <a:ext cx="10868745" cy="581422"/>
          </a:xfrm>
          <a:prstGeom prst="rect">
            <a:avLst/>
          </a:prstGeom>
          <a:noFill/>
          <a:ln/>
        </p:spPr>
        <p:txBody>
          <a:bodyPr wrap="none" lIns="0" tIns="0" rIns="0" bIns="0" rtlCol="0" anchor="t"/>
          <a:lstStyle/>
          <a:p>
            <a:pPr marL="0" indent="0" algn="l">
              <a:lnSpc>
                <a:spcPct val="104000"/>
              </a:lnSpc>
              <a:buNone/>
            </a:pPr>
            <a:r>
              <a:rPr lang="en-US" sz="3650" dirty="0">
                <a:solidFill>
                  <a:srgbClr val="3B4540"/>
                </a:solidFill>
                <a:latin typeface="Fraunces ExtraBold" pitchFamily="34" charset="0"/>
                <a:ea typeface="Fraunces ExtraBold" pitchFamily="34" charset="-122"/>
                <a:cs typeface="Fraunces ExtraBold" pitchFamily="34" charset="-120"/>
              </a:rPr>
              <a:t>Problem Statement</a:t>
            </a:r>
            <a:endParaRPr lang="en-US" sz="36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13780"/>
            <a:ext cx="3500747" cy="2295227"/>
          </a:xfrm>
          <a:prstGeom prst="rect">
            <a:avLst/>
          </a:prstGeom>
        </p:spPr>
      </p:pic>
      <p:sp>
        <p:nvSpPr>
          <p:cNvPr id="4" name="Text 1"/>
          <p:cNvSpPr/>
          <p:nvPr/>
        </p:nvSpPr>
        <p:spPr>
          <a:xfrm>
            <a:off x="974502" y="1725216"/>
            <a:ext cx="2976290"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Water Management Challenge</a:t>
            </a:r>
            <a:endParaRPr lang="en-US" sz="1800" dirty="0"/>
          </a:p>
        </p:txBody>
      </p:sp>
      <p:sp>
        <p:nvSpPr>
          <p:cNvPr id="5" name="Text 2"/>
          <p:cNvSpPr/>
          <p:nvPr/>
        </p:nvSpPr>
        <p:spPr>
          <a:xfrm>
            <a:off x="974502" y="2416473"/>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Efficient water management is essential for agricultural productivity and water conservation.</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5375" y="1513780"/>
            <a:ext cx="3500846" cy="2295227"/>
          </a:xfrm>
          <a:prstGeom prst="rect">
            <a:avLst/>
          </a:prstGeom>
        </p:spPr>
      </p:pic>
      <p:sp>
        <p:nvSpPr>
          <p:cNvPr id="7" name="Text 3"/>
          <p:cNvSpPr/>
          <p:nvPr/>
        </p:nvSpPr>
        <p:spPr>
          <a:xfrm>
            <a:off x="4658402" y="1725216"/>
            <a:ext cx="2976389"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Manual Monitoring Dependency</a:t>
            </a:r>
            <a:endParaRPr lang="en-US" sz="1800" dirty="0"/>
          </a:p>
        </p:txBody>
      </p:sp>
      <p:sp>
        <p:nvSpPr>
          <p:cNvPr id="8" name="Text 4"/>
          <p:cNvSpPr/>
          <p:nvPr/>
        </p:nvSpPr>
        <p:spPr>
          <a:xfrm>
            <a:off x="4658402" y="2416473"/>
            <a:ext cx="2976389"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Traditional irrigation often depends on manual monitoring, making it labor-intensive and error-prone.</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9374" y="1513780"/>
            <a:ext cx="3500747" cy="2295227"/>
          </a:xfrm>
          <a:prstGeom prst="rect">
            <a:avLst/>
          </a:prstGeom>
        </p:spPr>
      </p:pic>
      <p:sp>
        <p:nvSpPr>
          <p:cNvPr id="10" name="Text 5"/>
          <p:cNvSpPr/>
          <p:nvPr/>
        </p:nvSpPr>
        <p:spPr>
          <a:xfrm>
            <a:off x="8342401" y="1725216"/>
            <a:ext cx="2976290" cy="290711"/>
          </a:xfrm>
          <a:prstGeom prst="rect">
            <a:avLst/>
          </a:prstGeom>
          <a:noFill/>
          <a:ln/>
        </p:spPr>
        <p:txBody>
          <a:bodyPr wrap="none" lIns="0" tIns="0" rIns="0" bIns="0" rtlCol="0" anchor="t"/>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Over-Irrigation Risk</a:t>
            </a:r>
            <a:endParaRPr lang="en-US" sz="1800" dirty="0"/>
          </a:p>
        </p:txBody>
      </p:sp>
      <p:sp>
        <p:nvSpPr>
          <p:cNvPr id="11" name="Text 6"/>
          <p:cNvSpPr/>
          <p:nvPr/>
        </p:nvSpPr>
        <p:spPr>
          <a:xfrm>
            <a:off x="8342401" y="2125762"/>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Fixed watering schedules may result in over-irrigation, wasting water and potentially harming crops.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992166"/>
            <a:ext cx="3500747" cy="2299791"/>
          </a:xfrm>
          <a:prstGeom prst="rect">
            <a:avLst/>
          </a:prstGeom>
        </p:spPr>
      </p:pic>
      <p:sp>
        <p:nvSpPr>
          <p:cNvPr id="13" name="Text 7"/>
          <p:cNvSpPr/>
          <p:nvPr/>
        </p:nvSpPr>
        <p:spPr>
          <a:xfrm>
            <a:off x="974502" y="4203601"/>
            <a:ext cx="2976290"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Insufficient Watering Risk</a:t>
            </a:r>
            <a:endParaRPr lang="en-US" sz="1800" dirty="0"/>
          </a:p>
        </p:txBody>
      </p:sp>
      <p:sp>
        <p:nvSpPr>
          <p:cNvPr id="14" name="Text 8"/>
          <p:cNvSpPr/>
          <p:nvPr/>
        </p:nvSpPr>
        <p:spPr>
          <a:xfrm>
            <a:off x="974502" y="4894858"/>
            <a:ext cx="2976290" cy="118110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Insufficient watering can also occur when soil conditions change unexpectedly between scheduled cycles.</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5375" y="3992166"/>
            <a:ext cx="3500846" cy="2299791"/>
          </a:xfrm>
          <a:prstGeom prst="rect">
            <a:avLst/>
          </a:prstGeom>
        </p:spPr>
      </p:pic>
      <p:sp>
        <p:nvSpPr>
          <p:cNvPr id="16" name="Text 9"/>
          <p:cNvSpPr/>
          <p:nvPr/>
        </p:nvSpPr>
        <p:spPr>
          <a:xfrm>
            <a:off x="4658402" y="4203601"/>
            <a:ext cx="2976389" cy="290711"/>
          </a:xfrm>
          <a:prstGeom prst="rect">
            <a:avLst/>
          </a:prstGeom>
          <a:noFill/>
          <a:ln/>
        </p:spPr>
        <p:txBody>
          <a:bodyPr wrap="none" lIns="0" tIns="0" rIns="0" bIns="0" rtlCol="0" anchor="t"/>
          <a:lstStyle/>
          <a:p>
            <a:pPr marL="0" indent="0" algn="l">
              <a:lnSpc>
                <a:spcPct val="104000"/>
              </a:lnSpc>
              <a:buNone/>
            </a:pPr>
            <a:r>
              <a:rPr lang="en-US" sz="1800" dirty="0">
                <a:solidFill>
                  <a:srgbClr val="405449"/>
                </a:solidFill>
                <a:latin typeface="Fraunces ExtraBold" pitchFamily="34" charset="0"/>
                <a:ea typeface="Fraunces ExtraBold" pitchFamily="34" charset="-122"/>
                <a:cs typeface="Fraunces ExtraBold" pitchFamily="34" charset="-120"/>
              </a:rPr>
              <a:t>Need for Intelligence</a:t>
            </a:r>
            <a:endParaRPr lang="en-US" sz="1800" dirty="0"/>
          </a:p>
        </p:txBody>
      </p:sp>
      <p:sp>
        <p:nvSpPr>
          <p:cNvPr id="17" name="Text 10"/>
          <p:cNvSpPr/>
          <p:nvPr/>
        </p:nvSpPr>
        <p:spPr>
          <a:xfrm>
            <a:off x="4658402" y="4604147"/>
            <a:ext cx="2976389" cy="147637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405449"/>
                </a:solidFill>
                <a:latin typeface="Nobile" pitchFamily="34" charset="0"/>
                <a:ea typeface="Nobile" pitchFamily="34" charset="-122"/>
                <a:cs typeface="Nobile" pitchFamily="34" charset="-120"/>
              </a:rPr>
              <a:t>Farmers need an intelligent system that monitors soil conditions in real time and automatically regulates irrigation according to crop requirements.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24979"/>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3B4540"/>
                </a:solidFill>
                <a:latin typeface="Fraunces ExtraBold" pitchFamily="34" charset="0"/>
                <a:ea typeface="Fraunces ExtraBold" pitchFamily="34" charset="-122"/>
                <a:cs typeface="Fraunces ExtraBold" pitchFamily="34" charset="-120"/>
              </a:rPr>
              <a:t>Proposed Solution</a:t>
            </a:r>
            <a:endParaRPr lang="en-US" sz="3450" dirty="0"/>
          </a:p>
        </p:txBody>
      </p:sp>
      <p:pic>
        <p:nvPicPr>
          <p:cNvPr id="3" name="Image 0" descr="preencoded.png"/>
          <p:cNvPicPr>
            <a:picLocks noChangeAspect="1"/>
          </p:cNvPicPr>
          <p:nvPr/>
        </p:nvPicPr>
        <p:blipFill>
          <a:blip r:embed="rId3"/>
          <a:stretch>
            <a:fillRect/>
          </a:stretch>
        </p:blipFill>
        <p:spPr>
          <a:xfrm>
            <a:off x="661475" y="1871563"/>
            <a:ext cx="6913390" cy="3917652"/>
          </a:xfrm>
          <a:prstGeom prst="rect">
            <a:avLst/>
          </a:prstGeom>
        </p:spPr>
      </p:pic>
      <p:sp>
        <p:nvSpPr>
          <p:cNvPr id="4" name="Text 1"/>
          <p:cNvSpPr/>
          <p:nvPr/>
        </p:nvSpPr>
        <p:spPr>
          <a:xfrm>
            <a:off x="8013400" y="1593949"/>
            <a:ext cx="3523070" cy="553839"/>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3B4540"/>
                </a:solidFill>
                <a:latin typeface="Fraunces ExtraBold" pitchFamily="34" charset="0"/>
                <a:ea typeface="Fraunces ExtraBold" pitchFamily="34" charset="-122"/>
                <a:cs typeface="Fraunces ExtraBold" pitchFamily="34" charset="-120"/>
              </a:rPr>
              <a:t>An Intelligent, Automated Irrigation Platform</a:t>
            </a:r>
            <a:endParaRPr lang="en-US" sz="1700" dirty="0"/>
          </a:p>
        </p:txBody>
      </p:sp>
      <p:sp>
        <p:nvSpPr>
          <p:cNvPr id="5" name="Text 2"/>
          <p:cNvSpPr/>
          <p:nvPr/>
        </p:nvSpPr>
        <p:spPr>
          <a:xfrm>
            <a:off x="8013400" y="2313880"/>
            <a:ext cx="3523070" cy="3860998"/>
          </a:xfrm>
          <a:prstGeom prst="rect">
            <a:avLst/>
          </a:prstGeom>
          <a:noFill/>
          <a:ln/>
        </p:spPr>
        <p:txBody>
          <a:bodyPr wrap="square" lIns="0" tIns="70882" rIns="0" bIns="0" rtlCol="0" anchor="t">
            <a:normAutofit/>
          </a:bodyPr>
          <a:lstStyle/>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Automates water supply using soil moisture monitoring</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Uses IoT technologies to monitor field conditions continuously</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Continuously observes soil and environmental conditions</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Automatically regulates irrigation based on predefined soil moisture thresholds</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Provides a centralized and user-friendly monitoring platform</a:t>
            </a:r>
            <a:endParaRPr lang="en-US" sz="1350" dirty="0"/>
          </a:p>
          <a:p>
            <a:pPr marL="274320" indent="-274320" algn="l">
              <a:lnSpc>
                <a:spcPct val="129000"/>
              </a:lnSpc>
              <a:buSzPct val="100000"/>
              <a:buChar char="•"/>
            </a:pPr>
            <a:r>
              <a:rPr lang="en-US" sz="1350" dirty="0">
                <a:solidFill>
                  <a:srgbClr val="405449"/>
                </a:solidFill>
                <a:latin typeface="Nobile" pitchFamily="34" charset="0"/>
                <a:ea typeface="Nobile" pitchFamily="34" charset="-122"/>
                <a:cs typeface="Nobile" pitchFamily="34" charset="-120"/>
              </a:rPr>
              <a:t>Allows farmers to monitor and control irrigation operations remotely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52748"/>
            <a:ext cx="10868745" cy="526058"/>
          </a:xfrm>
          <a:prstGeom prst="rect">
            <a:avLst/>
          </a:prstGeom>
          <a:noFill/>
          <a:ln/>
        </p:spPr>
        <p:txBody>
          <a:bodyPr wrap="none" lIns="0" tIns="0" rIns="0" bIns="0" rtlCol="0" anchor="t"/>
          <a:lstStyle/>
          <a:p>
            <a:pPr marL="0" indent="0" algn="l">
              <a:lnSpc>
                <a:spcPct val="104000"/>
              </a:lnSpc>
              <a:buNone/>
            </a:pPr>
            <a:r>
              <a:rPr lang="en-US" sz="3300" dirty="0">
                <a:solidFill>
                  <a:srgbClr val="3B4540"/>
                </a:solidFill>
                <a:latin typeface="Fraunces ExtraBold" pitchFamily="34" charset="0"/>
                <a:ea typeface="Fraunces ExtraBold" pitchFamily="34" charset="-122"/>
                <a:cs typeface="Fraunces ExtraBold" pitchFamily="34" charset="-120"/>
              </a:rPr>
              <a:t>System Components</a:t>
            </a:r>
            <a:endParaRPr lang="en-US" sz="33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378645"/>
            <a:ext cx="336641" cy="336649"/>
          </a:xfrm>
          <a:prstGeom prst="rect">
            <a:avLst/>
          </a:prstGeom>
        </p:spPr>
      </p:pic>
      <p:sp>
        <p:nvSpPr>
          <p:cNvPr id="4" name="Text 1"/>
          <p:cNvSpPr/>
          <p:nvPr/>
        </p:nvSpPr>
        <p:spPr>
          <a:xfrm>
            <a:off x="661475" y="1902619"/>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Soil Moisture Sensors</a:t>
            </a:r>
            <a:endParaRPr lang="en-US" sz="1650" dirty="0"/>
          </a:p>
        </p:txBody>
      </p:sp>
      <p:sp>
        <p:nvSpPr>
          <p:cNvPr id="5" name="Text 2"/>
          <p:cNvSpPr/>
          <p:nvPr/>
        </p:nvSpPr>
        <p:spPr>
          <a:xfrm>
            <a:off x="661475" y="225554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Monitor soil water content in real time</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9508" y="1378645"/>
            <a:ext cx="336641" cy="336649"/>
          </a:xfrm>
          <a:prstGeom prst="rect">
            <a:avLst/>
          </a:prstGeom>
        </p:spPr>
      </p:pic>
      <p:sp>
        <p:nvSpPr>
          <p:cNvPr id="7" name="Text 3"/>
          <p:cNvSpPr/>
          <p:nvPr/>
        </p:nvSpPr>
        <p:spPr>
          <a:xfrm>
            <a:off x="6189508" y="1902619"/>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Temperature Sensors</a:t>
            </a:r>
            <a:endParaRPr lang="en-US" sz="1650" dirty="0"/>
          </a:p>
        </p:txBody>
      </p:sp>
      <p:sp>
        <p:nvSpPr>
          <p:cNvPr id="8" name="Text 4"/>
          <p:cNvSpPr/>
          <p:nvPr/>
        </p:nvSpPr>
        <p:spPr>
          <a:xfrm>
            <a:off x="6189508" y="225554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Collect environmental and atmospheric data</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809974"/>
            <a:ext cx="336641" cy="336649"/>
          </a:xfrm>
          <a:prstGeom prst="rect">
            <a:avLst/>
          </a:prstGeom>
        </p:spPr>
      </p:pic>
      <p:sp>
        <p:nvSpPr>
          <p:cNvPr id="10" name="Text 5"/>
          <p:cNvSpPr/>
          <p:nvPr/>
        </p:nvSpPr>
        <p:spPr>
          <a:xfrm>
            <a:off x="661475" y="333394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IoT Communication Modules</a:t>
            </a:r>
            <a:endParaRPr lang="en-US" sz="1650" dirty="0"/>
          </a:p>
        </p:txBody>
      </p:sp>
      <p:sp>
        <p:nvSpPr>
          <p:cNvPr id="11" name="Text 6"/>
          <p:cNvSpPr/>
          <p:nvPr/>
        </p:nvSpPr>
        <p:spPr>
          <a:xfrm>
            <a:off x="661475" y="368687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Transmit sensor data to the central system</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9508" y="2809974"/>
            <a:ext cx="336641" cy="336649"/>
          </a:xfrm>
          <a:prstGeom prst="rect">
            <a:avLst/>
          </a:prstGeom>
        </p:spPr>
      </p:pic>
      <p:sp>
        <p:nvSpPr>
          <p:cNvPr id="13" name="Text 7"/>
          <p:cNvSpPr/>
          <p:nvPr/>
        </p:nvSpPr>
        <p:spPr>
          <a:xfrm>
            <a:off x="6189508" y="333394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Automated Water Pumps</a:t>
            </a:r>
            <a:endParaRPr lang="en-US" sz="1650" dirty="0"/>
          </a:p>
        </p:txBody>
      </p:sp>
      <p:sp>
        <p:nvSpPr>
          <p:cNvPr id="14" name="Text 8"/>
          <p:cNvSpPr/>
          <p:nvPr/>
        </p:nvSpPr>
        <p:spPr>
          <a:xfrm>
            <a:off x="6189508" y="3686870"/>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Control water supply based on system commands</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241304"/>
            <a:ext cx="336641" cy="336649"/>
          </a:xfrm>
          <a:prstGeom prst="rect">
            <a:avLst/>
          </a:prstGeom>
        </p:spPr>
      </p:pic>
      <p:sp>
        <p:nvSpPr>
          <p:cNvPr id="16" name="Text 9"/>
          <p:cNvSpPr/>
          <p:nvPr/>
        </p:nvSpPr>
        <p:spPr>
          <a:xfrm>
            <a:off x="661475" y="476527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Monitoring Platform</a:t>
            </a:r>
            <a:endParaRPr lang="en-US" sz="1650" dirty="0"/>
          </a:p>
        </p:txBody>
      </p:sp>
      <p:sp>
        <p:nvSpPr>
          <p:cNvPr id="17" name="Text 10"/>
          <p:cNvSpPr/>
          <p:nvPr/>
        </p:nvSpPr>
        <p:spPr>
          <a:xfrm>
            <a:off x="661475" y="5118199"/>
            <a:ext cx="5340712"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Process, analyze, and display real-time sensor data and system metrics</a:t>
            </a:r>
            <a:endParaRPr lang="en-US" sz="1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89508" y="4241304"/>
            <a:ext cx="336641" cy="336649"/>
          </a:xfrm>
          <a:prstGeom prst="rect">
            <a:avLst/>
          </a:prstGeom>
        </p:spPr>
      </p:pic>
      <p:sp>
        <p:nvSpPr>
          <p:cNvPr id="19" name="Text 11"/>
          <p:cNvSpPr/>
          <p:nvPr/>
        </p:nvSpPr>
        <p:spPr>
          <a:xfrm>
            <a:off x="6189508" y="4765278"/>
            <a:ext cx="5340712" cy="263029"/>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Connected Devices</a:t>
            </a:r>
            <a:endParaRPr lang="en-US" sz="1650" dirty="0"/>
          </a:p>
        </p:txBody>
      </p:sp>
      <p:sp>
        <p:nvSpPr>
          <p:cNvPr id="20" name="Text 12"/>
          <p:cNvSpPr/>
          <p:nvPr/>
        </p:nvSpPr>
        <p:spPr>
          <a:xfrm>
            <a:off x="6189508" y="5118199"/>
            <a:ext cx="5340712" cy="254595"/>
          </a:xfrm>
          <a:prstGeom prst="rect">
            <a:avLst/>
          </a:prstGeom>
          <a:noFill/>
          <a:ln/>
        </p:spPr>
        <p:txBody>
          <a:bodyPr wrap="none" lIns="0" tIns="0" rIns="0" bIns="0" rtlCol="0" anchor="t"/>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Enable remote monitoring and control from anywhere</a:t>
            </a:r>
            <a:endParaRPr lang="en-US" sz="1300" dirty="0"/>
          </a:p>
        </p:txBody>
      </p:sp>
      <p:sp>
        <p:nvSpPr>
          <p:cNvPr id="21" name="Text 13"/>
          <p:cNvSpPr/>
          <p:nvPr/>
        </p:nvSpPr>
        <p:spPr>
          <a:xfrm>
            <a:off x="661475" y="5796062"/>
            <a:ext cx="10868745"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405449"/>
                </a:solidFill>
                <a:latin typeface="Nobile" pitchFamily="34" charset="0"/>
                <a:ea typeface="Nobile" pitchFamily="34" charset="-122"/>
                <a:cs typeface="Nobile" pitchFamily="34" charset="-120"/>
              </a:rPr>
              <a:t>These components work together to create an integrated system where sensors collect field data, IoT modules transmit information, the platform processes it, and automated controls respond to field conditions.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9807"/>
            <a:ext cx="10868745" cy="396875"/>
          </a:xfrm>
          <a:prstGeom prst="rect">
            <a:avLst/>
          </a:prstGeom>
          <a:noFill/>
          <a:ln/>
        </p:spPr>
        <p:txBody>
          <a:bodyPr wrap="none" lIns="0" tIns="0" rIns="0" bIns="0" rtlCol="0" anchor="t"/>
          <a:lstStyle/>
          <a:p>
            <a:pPr marL="0" indent="0" algn="l">
              <a:lnSpc>
                <a:spcPct val="104000"/>
              </a:lnSpc>
              <a:buNone/>
            </a:pPr>
            <a:r>
              <a:rPr lang="en-US" sz="2450" dirty="0">
                <a:solidFill>
                  <a:srgbClr val="3B4540"/>
                </a:solidFill>
                <a:latin typeface="Fraunces ExtraBold" pitchFamily="34" charset="0"/>
                <a:ea typeface="Fraunces ExtraBold" pitchFamily="34" charset="-122"/>
                <a:cs typeface="Fraunces ExtraBold" pitchFamily="34" charset="-120"/>
              </a:rPr>
              <a:t>System Architecture and Working</a:t>
            </a:r>
            <a:endParaRPr lang="en-US" sz="2450" dirty="0"/>
          </a:p>
        </p:txBody>
      </p:sp>
      <p:pic>
        <p:nvPicPr>
          <p:cNvPr id="3" name="Image 0" descr="preencoded.png"/>
          <p:cNvPicPr>
            <a:picLocks noChangeAspect="1"/>
          </p:cNvPicPr>
          <p:nvPr/>
        </p:nvPicPr>
        <p:blipFill>
          <a:blip r:embed="rId3"/>
          <a:stretch>
            <a:fillRect/>
          </a:stretch>
        </p:blipFill>
        <p:spPr>
          <a:xfrm>
            <a:off x="706221" y="1087338"/>
            <a:ext cx="10779153" cy="4648299"/>
          </a:xfrm>
          <a:prstGeom prst="rect">
            <a:avLst/>
          </a:prstGeom>
        </p:spPr>
      </p:pic>
      <p:sp>
        <p:nvSpPr>
          <p:cNvPr id="4" name="Text 1"/>
          <p:cNvSpPr/>
          <p:nvPr/>
        </p:nvSpPr>
        <p:spPr>
          <a:xfrm>
            <a:off x="1431583" y="4854146"/>
            <a:ext cx="2546790"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Evaluate Thresholds</a:t>
            </a:r>
            <a:endParaRPr lang="en-US" sz="1900" dirty="0"/>
          </a:p>
        </p:txBody>
      </p:sp>
      <p:sp>
        <p:nvSpPr>
          <p:cNvPr id="5" name="Text 2"/>
          <p:cNvSpPr/>
          <p:nvPr/>
        </p:nvSpPr>
        <p:spPr>
          <a:xfrm>
            <a:off x="1431583" y="3778140"/>
            <a:ext cx="2445408"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Transmit IoT</a:t>
            </a:r>
            <a:endParaRPr lang="en-US" sz="1900" dirty="0"/>
          </a:p>
        </p:txBody>
      </p:sp>
      <p:sp>
        <p:nvSpPr>
          <p:cNvPr id="6" name="Text 3"/>
          <p:cNvSpPr/>
          <p:nvPr/>
        </p:nvSpPr>
        <p:spPr>
          <a:xfrm>
            <a:off x="1431583" y="2713002"/>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Collect Data</a:t>
            </a:r>
            <a:endParaRPr lang="en-US" sz="1900" dirty="0"/>
          </a:p>
        </p:txBody>
      </p:sp>
      <p:sp>
        <p:nvSpPr>
          <p:cNvPr id="7" name="Text 4"/>
          <p:cNvSpPr/>
          <p:nvPr/>
        </p:nvSpPr>
        <p:spPr>
          <a:xfrm>
            <a:off x="1431583" y="1636996"/>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Fraunces ExtraBold" pitchFamily="34" charset="0"/>
                <a:ea typeface="Fraunces ExtraBold" pitchFamily="34" charset="-122"/>
                <a:cs typeface="Fraunces ExtraBold" pitchFamily="34" charset="-120"/>
              </a:rPr>
              <a:t>Monitor Moisture</a:t>
            </a:r>
            <a:endParaRPr lang="en-US" sz="1900" dirty="0"/>
          </a:p>
        </p:txBody>
      </p:sp>
      <p:sp>
        <p:nvSpPr>
          <p:cNvPr id="8" name="Text 5"/>
          <p:cNvSpPr/>
          <p:nvPr/>
        </p:nvSpPr>
        <p:spPr>
          <a:xfrm>
            <a:off x="661475" y="5831582"/>
            <a:ext cx="10868745" cy="509588"/>
          </a:xfrm>
          <a:prstGeom prst="rect">
            <a:avLst/>
          </a:prstGeom>
          <a:noFill/>
          <a:ln/>
        </p:spPr>
        <p:txBody>
          <a:bodyPr wrap="square" lIns="0" tIns="0" rIns="0" bIns="0" rtlCol="0" anchor="t">
            <a:normAutofit/>
          </a:bodyPr>
          <a:lstStyle/>
          <a:p>
            <a:pPr marL="0" indent="0" algn="l">
              <a:lnSpc>
                <a:spcPct val="111000"/>
              </a:lnSpc>
              <a:buNone/>
            </a:pPr>
            <a:r>
              <a:rPr lang="en-US" sz="950" dirty="0">
                <a:solidFill>
                  <a:srgbClr val="405449"/>
                </a:solidFill>
                <a:latin typeface="Nobile" pitchFamily="34" charset="0"/>
                <a:ea typeface="Nobile" pitchFamily="34" charset="-122"/>
                <a:cs typeface="Nobile" pitchFamily="34" charset="-120"/>
              </a:rPr>
              <a:t>Soil moisture sensors continuously monitor soil conditions while temperature sensors collect environmental information. Sensor data is transmitted through IoT communication modules, and the system compares moisture levels with predefined thresholds. When moisture falls below the required level, the automated water pump is activated and irrigation continues until the required soil condition is met. The system continuously monitors the field and updates the dashboard in real time.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4768"/>
            <a:ext cx="10868745" cy="304602"/>
          </a:xfrm>
          <a:prstGeom prst="rect">
            <a:avLst/>
          </a:prstGeom>
          <a:noFill/>
          <a:ln/>
        </p:spPr>
        <p:txBody>
          <a:bodyPr wrap="none" lIns="0" tIns="0" rIns="0" bIns="0" rtlCol="0" anchor="t"/>
          <a:lstStyle/>
          <a:p>
            <a:pPr marL="0" indent="0" algn="l">
              <a:lnSpc>
                <a:spcPct val="104000"/>
              </a:lnSpc>
              <a:buNone/>
            </a:pPr>
            <a:r>
              <a:rPr lang="en-US" sz="1900" dirty="0">
                <a:solidFill>
                  <a:srgbClr val="3B4540"/>
                </a:solidFill>
                <a:latin typeface="Fraunces ExtraBold" pitchFamily="34" charset="0"/>
                <a:ea typeface="Fraunces ExtraBold" pitchFamily="34" charset="-122"/>
                <a:cs typeface="Fraunces ExtraBold" pitchFamily="34" charset="-120"/>
              </a:rPr>
              <a:t>Automated Irrigation Control</a:t>
            </a:r>
            <a:endParaRPr lang="en-US" sz="1900" dirty="0"/>
          </a:p>
        </p:txBody>
      </p:sp>
      <p:pic>
        <p:nvPicPr>
          <p:cNvPr id="3" name="Image 0" descr="preencoded.png"/>
          <p:cNvPicPr>
            <a:picLocks noChangeAspect="1"/>
          </p:cNvPicPr>
          <p:nvPr/>
        </p:nvPicPr>
        <p:blipFill>
          <a:blip r:embed="rId3"/>
          <a:stretch>
            <a:fillRect/>
          </a:stretch>
        </p:blipFill>
        <p:spPr>
          <a:xfrm>
            <a:off x="661475" y="961132"/>
            <a:ext cx="5315512" cy="5315645"/>
          </a:xfrm>
          <a:prstGeom prst="rect">
            <a:avLst/>
          </a:prstGeom>
        </p:spPr>
      </p:pic>
      <p:sp>
        <p:nvSpPr>
          <p:cNvPr id="4" name="Text 1"/>
          <p:cNvSpPr/>
          <p:nvPr/>
        </p:nvSpPr>
        <p:spPr>
          <a:xfrm>
            <a:off x="6221058" y="2765028"/>
            <a:ext cx="5315512" cy="152301"/>
          </a:xfrm>
          <a:prstGeom prst="rect">
            <a:avLst/>
          </a:prstGeom>
          <a:noFill/>
          <a:ln/>
        </p:spPr>
        <p:txBody>
          <a:bodyPr wrap="none" lIns="0" tIns="0" rIns="0" bIns="0" rtlCol="0" anchor="t"/>
          <a:lstStyle/>
          <a:p>
            <a:pPr marL="0" indent="0" algn="l">
              <a:lnSpc>
                <a:spcPct val="104000"/>
              </a:lnSpc>
              <a:buNone/>
            </a:pPr>
            <a:r>
              <a:rPr lang="en-US" sz="950" dirty="0">
                <a:solidFill>
                  <a:srgbClr val="3B4540"/>
                </a:solidFill>
                <a:latin typeface="Fraunces ExtraBold" pitchFamily="34" charset="0"/>
                <a:ea typeface="Fraunces ExtraBold" pitchFamily="34" charset="-122"/>
                <a:cs typeface="Fraunces ExtraBold" pitchFamily="34" charset="-120"/>
              </a:rPr>
              <a:t>Dynamic, Condition-Based Control</a:t>
            </a:r>
            <a:endParaRPr lang="en-US" sz="950" dirty="0"/>
          </a:p>
        </p:txBody>
      </p:sp>
      <p:sp>
        <p:nvSpPr>
          <p:cNvPr id="5" name="Text 2"/>
          <p:cNvSpPr/>
          <p:nvPr/>
        </p:nvSpPr>
        <p:spPr>
          <a:xfrm>
            <a:off x="6221058" y="2967534"/>
            <a:ext cx="5315512" cy="1067495"/>
          </a:xfrm>
          <a:prstGeom prst="rect">
            <a:avLst/>
          </a:prstGeom>
          <a:noFill/>
          <a:ln/>
        </p:spPr>
        <p:txBody>
          <a:bodyPr wrap="square" lIns="0" tIns="38985" rIns="0" bIns="0" rtlCol="0" anchor="t">
            <a:normAutofit/>
          </a:bodyPr>
          <a:lstStyle/>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Monitor soil moisture continuously</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Define appropriate moisture thresholds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Detect when soil moisture falls below the threshold</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Automatically activate the water pump</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Supply water to the field</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Continue monitoring moisture conditions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Regulate irrigation based on changing soil conditions</a:t>
            </a:r>
            <a:endParaRPr lang="en-US" sz="750" dirty="0"/>
          </a:p>
          <a:p>
            <a:pPr marL="152400" indent="-152400" algn="l">
              <a:lnSpc>
                <a:spcPct val="101000"/>
              </a:lnSpc>
              <a:buSzPct val="100000"/>
              <a:buChar char="•"/>
            </a:pPr>
            <a:r>
              <a:rPr lang="en-US" sz="750" dirty="0">
                <a:solidFill>
                  <a:srgbClr val="405449"/>
                </a:solidFill>
                <a:latin typeface="Nobile" pitchFamily="34" charset="0"/>
                <a:ea typeface="Nobile" pitchFamily="34" charset="-122"/>
                <a:cs typeface="Nobile" pitchFamily="34" charset="-120"/>
              </a:rPr>
              <a:t>Reduce unnecessary manual intervention</a:t>
            </a:r>
            <a:endParaRPr lang="en-US" sz="750" dirty="0"/>
          </a:p>
        </p:txBody>
      </p:sp>
      <p:sp>
        <p:nvSpPr>
          <p:cNvPr id="6" name="Shape 3"/>
          <p:cNvSpPr/>
          <p:nvPr/>
        </p:nvSpPr>
        <p:spPr>
          <a:xfrm>
            <a:off x="6221058" y="4091484"/>
            <a:ext cx="5315512" cy="375047"/>
          </a:xfrm>
          <a:prstGeom prst="roundRect">
            <a:avLst>
              <a:gd name="adj" fmla="val 23388"/>
            </a:avLst>
          </a:prstGeom>
          <a:solidFill>
            <a:srgbClr val="B6FCB8"/>
          </a:solidFill>
          <a:ln/>
        </p:spPr>
      </p:sp>
      <p:pic>
        <p:nvPicPr>
          <p:cNvPr id="7" name="Image 1" descr="preencoded.png"/>
          <p:cNvPicPr>
            <a:picLocks noChangeAspect="1"/>
          </p:cNvPicPr>
          <p:nvPr/>
        </p:nvPicPr>
        <p:blipFill>
          <a:blip r:embed="rId4"/>
          <a:stretch>
            <a:fillRect/>
          </a:stretch>
        </p:blipFill>
        <p:spPr>
          <a:xfrm>
            <a:off x="6318489" y="4165997"/>
            <a:ext cx="121738" cy="97433"/>
          </a:xfrm>
          <a:prstGeom prst="rect">
            <a:avLst/>
          </a:prstGeom>
        </p:spPr>
      </p:pic>
      <p:sp>
        <p:nvSpPr>
          <p:cNvPr id="8" name="Text 4"/>
          <p:cNvSpPr/>
          <p:nvPr/>
        </p:nvSpPr>
        <p:spPr>
          <a:xfrm>
            <a:off x="6537658" y="4160937"/>
            <a:ext cx="4901482" cy="236141"/>
          </a:xfrm>
          <a:prstGeom prst="rect">
            <a:avLst/>
          </a:prstGeom>
          <a:noFill/>
          <a:ln/>
        </p:spPr>
        <p:txBody>
          <a:bodyPr wrap="square" lIns="0" tIns="0" rIns="0" bIns="0" rtlCol="0" anchor="t">
            <a:normAutofit/>
          </a:bodyPr>
          <a:lstStyle/>
          <a:p>
            <a:pPr marL="0" indent="0" algn="l">
              <a:lnSpc>
                <a:spcPct val="101000"/>
              </a:lnSpc>
              <a:buNone/>
            </a:pPr>
            <a:r>
              <a:rPr lang="en-US" sz="750" dirty="0">
                <a:solidFill>
                  <a:srgbClr val="000000"/>
                </a:solidFill>
                <a:latin typeface="Nobile" pitchFamily="34" charset="0"/>
                <a:ea typeface="Nobile" pitchFamily="34" charset="-122"/>
                <a:cs typeface="Nobile" pitchFamily="34" charset="-120"/>
              </a:rPr>
              <a:t>This automated approach prevents both over-irrigation and insufficient water supply by responding dynamically to actual soil conditions rather than relying on fixed schedules.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21593"/>
            <a:ext cx="6296860" cy="1070570"/>
          </a:xfrm>
          <a:prstGeom prst="rect">
            <a:avLst/>
          </a:prstGeom>
          <a:noFill/>
          <a:ln/>
        </p:spPr>
        <p:txBody>
          <a:bodyPr wrap="square" lIns="0" tIns="0" rIns="0" bIns="0" rtlCol="0" anchor="t">
            <a:normAutofit/>
          </a:bodyPr>
          <a:lstStyle/>
          <a:p>
            <a:pPr marL="0" indent="0" algn="l">
              <a:lnSpc>
                <a:spcPct val="104000"/>
              </a:lnSpc>
              <a:buNone/>
            </a:pPr>
            <a:r>
              <a:rPr lang="en-US" sz="3350" dirty="0">
                <a:solidFill>
                  <a:srgbClr val="3B4540"/>
                </a:solidFill>
                <a:latin typeface="Fraunces ExtraBold" pitchFamily="34" charset="0"/>
                <a:ea typeface="Fraunces ExtraBold" pitchFamily="34" charset="-122"/>
                <a:cs typeface="Fraunces ExtraBold" pitchFamily="34" charset="-120"/>
              </a:rPr>
              <a:t>IoT Monitoring and Dashboard</a:t>
            </a:r>
            <a:endParaRPr lang="en-US" sz="3350" dirty="0"/>
          </a:p>
        </p:txBody>
      </p:sp>
      <p:sp>
        <p:nvSpPr>
          <p:cNvPr id="4" name="Shape 1"/>
          <p:cNvSpPr/>
          <p:nvPr/>
        </p:nvSpPr>
        <p:spPr>
          <a:xfrm>
            <a:off x="661475" y="1824930"/>
            <a:ext cx="3070843" cy="2117923"/>
          </a:xfrm>
          <a:prstGeom prst="roundRect">
            <a:avLst>
              <a:gd name="adj" fmla="val 7279"/>
            </a:avLst>
          </a:prstGeom>
          <a:solidFill>
            <a:srgbClr val="E8F3E8"/>
          </a:solidFill>
          <a:ln/>
        </p:spPr>
      </p:sp>
      <p:sp>
        <p:nvSpPr>
          <p:cNvPr id="5" name="Text 2"/>
          <p:cNvSpPr/>
          <p:nvPr/>
        </p:nvSpPr>
        <p:spPr>
          <a:xfrm>
            <a:off x="832722" y="1996182"/>
            <a:ext cx="2728348"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Real-Time Monitoring</a:t>
            </a:r>
            <a:endParaRPr lang="en-US" sz="1650" dirty="0"/>
          </a:p>
        </p:txBody>
      </p:sp>
      <p:sp>
        <p:nvSpPr>
          <p:cNvPr id="6" name="Text 3"/>
          <p:cNvSpPr/>
          <p:nvPr/>
        </p:nvSpPr>
        <p:spPr>
          <a:xfrm>
            <a:off x="832722" y="2356842"/>
            <a:ext cx="2728348" cy="1207790"/>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Soil condition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Temperature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Irrigation status tracking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Water pump activity tracking</a:t>
            </a:r>
            <a:endParaRPr lang="en-US" sz="1300" dirty="0"/>
          </a:p>
        </p:txBody>
      </p:sp>
      <p:sp>
        <p:nvSpPr>
          <p:cNvPr id="7" name="Shape 4"/>
          <p:cNvSpPr/>
          <p:nvPr/>
        </p:nvSpPr>
        <p:spPr>
          <a:xfrm>
            <a:off x="3887492" y="1824930"/>
            <a:ext cx="3070843" cy="2117923"/>
          </a:xfrm>
          <a:prstGeom prst="roundRect">
            <a:avLst>
              <a:gd name="adj" fmla="val 7279"/>
            </a:avLst>
          </a:prstGeom>
          <a:solidFill>
            <a:srgbClr val="E8F3E8"/>
          </a:solidFill>
          <a:ln/>
        </p:spPr>
      </p:sp>
      <p:sp>
        <p:nvSpPr>
          <p:cNvPr id="8" name="Text 5"/>
          <p:cNvSpPr/>
          <p:nvPr/>
        </p:nvSpPr>
        <p:spPr>
          <a:xfrm>
            <a:off x="4058739" y="1996182"/>
            <a:ext cx="2728348"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Data &amp; Analytics</a:t>
            </a:r>
            <a:endParaRPr lang="en-US" sz="1650" dirty="0"/>
          </a:p>
        </p:txBody>
      </p:sp>
      <p:sp>
        <p:nvSpPr>
          <p:cNvPr id="9" name="Text 6"/>
          <p:cNvSpPr/>
          <p:nvPr/>
        </p:nvSpPr>
        <p:spPr>
          <a:xfrm>
            <a:off x="4058739" y="2356842"/>
            <a:ext cx="2728348" cy="1414760"/>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Environmental data recording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Irrigation reports and analytics</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Interactive dashboards for data visualization</a:t>
            </a:r>
            <a:endParaRPr lang="en-US" sz="1300" dirty="0"/>
          </a:p>
        </p:txBody>
      </p:sp>
      <p:sp>
        <p:nvSpPr>
          <p:cNvPr id="10" name="Shape 7"/>
          <p:cNvSpPr/>
          <p:nvPr/>
        </p:nvSpPr>
        <p:spPr>
          <a:xfrm>
            <a:off x="661475" y="4098032"/>
            <a:ext cx="6296860" cy="1279922"/>
          </a:xfrm>
          <a:prstGeom prst="roundRect">
            <a:avLst>
              <a:gd name="adj" fmla="val 12045"/>
            </a:avLst>
          </a:prstGeom>
          <a:solidFill>
            <a:srgbClr val="E8F3E8"/>
          </a:solidFill>
          <a:ln/>
        </p:spPr>
      </p:sp>
      <p:sp>
        <p:nvSpPr>
          <p:cNvPr id="11" name="Text 8"/>
          <p:cNvSpPr/>
          <p:nvPr/>
        </p:nvSpPr>
        <p:spPr>
          <a:xfrm>
            <a:off x="832722" y="4269284"/>
            <a:ext cx="5954365" cy="267593"/>
          </a:xfrm>
          <a:prstGeom prst="rect">
            <a:avLst/>
          </a:prstGeom>
          <a:noFill/>
          <a:ln/>
        </p:spPr>
        <p:txBody>
          <a:bodyPr wrap="none" lIns="0" tIns="0" rIns="0" bIns="0" rtlCol="0" anchor="t"/>
          <a:lstStyle/>
          <a:p>
            <a:pPr marL="0" indent="0" algn="l">
              <a:lnSpc>
                <a:spcPct val="104000"/>
              </a:lnSpc>
              <a:buNone/>
            </a:pPr>
            <a:r>
              <a:rPr lang="en-US" sz="1650" dirty="0">
                <a:solidFill>
                  <a:srgbClr val="405449"/>
                </a:solidFill>
                <a:latin typeface="Fraunces ExtraBold" pitchFamily="34" charset="0"/>
                <a:ea typeface="Fraunces ExtraBold" pitchFamily="34" charset="-122"/>
                <a:cs typeface="Fraunces ExtraBold" pitchFamily="34" charset="-120"/>
              </a:rPr>
              <a:t>Remote Capabilities</a:t>
            </a:r>
            <a:endParaRPr lang="en-US" sz="1650" dirty="0"/>
          </a:p>
        </p:txBody>
      </p:sp>
      <p:sp>
        <p:nvSpPr>
          <p:cNvPr id="12" name="Text 9"/>
          <p:cNvSpPr/>
          <p:nvPr/>
        </p:nvSpPr>
        <p:spPr>
          <a:xfrm>
            <a:off x="832722" y="4629944"/>
            <a:ext cx="5954365" cy="576759"/>
          </a:xfrm>
          <a:prstGeom prst="rect">
            <a:avLst/>
          </a:prstGeom>
          <a:noFill/>
          <a:ln/>
        </p:spPr>
        <p:txBody>
          <a:bodyPr wrap="square" lIns="0" tIns="68519" rIns="0" bIns="0" rtlCol="0" anchor="t">
            <a:normAutofit/>
          </a:bodyPr>
          <a:lstStyle/>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Remote field monitoring</a:t>
            </a:r>
            <a:endParaRPr lang="en-US" sz="1300" dirty="0"/>
          </a:p>
          <a:p>
            <a:pPr marL="264160" indent="-264160" algn="l">
              <a:lnSpc>
                <a:spcPct val="127000"/>
              </a:lnSpc>
              <a:buSzPct val="100000"/>
              <a:buChar char="•"/>
            </a:pPr>
            <a:r>
              <a:rPr lang="en-US" sz="1300" dirty="0">
                <a:solidFill>
                  <a:srgbClr val="405449"/>
                </a:solidFill>
                <a:latin typeface="Nobile" pitchFamily="34" charset="0"/>
                <a:ea typeface="Nobile" pitchFamily="34" charset="-122"/>
                <a:cs typeface="Nobile" pitchFamily="34" charset="-120"/>
              </a:rPr>
              <a:t>Remote irrigation control through connected devices</a:t>
            </a:r>
            <a:endParaRPr lang="en-US" sz="1300" dirty="0"/>
          </a:p>
        </p:txBody>
      </p:sp>
      <p:sp>
        <p:nvSpPr>
          <p:cNvPr id="13" name="Text 10"/>
          <p:cNvSpPr/>
          <p:nvPr/>
        </p:nvSpPr>
        <p:spPr>
          <a:xfrm>
            <a:off x="661475" y="5552579"/>
            <a:ext cx="6296860" cy="783729"/>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405449"/>
                </a:solidFill>
                <a:latin typeface="Nobile" pitchFamily="34" charset="0"/>
                <a:ea typeface="Nobile" pitchFamily="34" charset="-122"/>
                <a:cs typeface="Nobile" pitchFamily="34" charset="-120"/>
              </a:rPr>
              <a:t>The dashboard provides farmers with comprehensive information about field conditions, system performance, and irrigation history, enabling informed decision-making and remote management of irrigation operations.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41635"/>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3B4540"/>
                </a:solidFill>
                <a:latin typeface="Fraunces ExtraBold" pitchFamily="34" charset="0"/>
                <a:ea typeface="Fraunces ExtraBold" pitchFamily="34" charset="-122"/>
                <a:cs typeface="Fraunces ExtraBold" pitchFamily="34" charset="-120"/>
              </a:rPr>
              <a:t>Benefits and Impact</a:t>
            </a:r>
            <a:endParaRPr lang="en-US" sz="3450" dirty="0"/>
          </a:p>
        </p:txBody>
      </p:sp>
      <p:sp>
        <p:nvSpPr>
          <p:cNvPr id="3" name="Text 1"/>
          <p:cNvSpPr/>
          <p:nvPr/>
        </p:nvSpPr>
        <p:spPr>
          <a:xfrm>
            <a:off x="1226214" y="1488380"/>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Water Conservation</a:t>
            </a:r>
            <a:endParaRPr lang="en-US" sz="1700" dirty="0"/>
          </a:p>
        </p:txBody>
      </p:sp>
      <p:sp>
        <p:nvSpPr>
          <p:cNvPr id="4" name="Text 2"/>
          <p:cNvSpPr/>
          <p:nvPr/>
        </p:nvSpPr>
        <p:spPr>
          <a:xfrm>
            <a:off x="1226214" y="1864916"/>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Improves water conservation through efficient usage and reduces unnecessary water consumption and associated costs.</a:t>
            </a:r>
            <a:endParaRPr lang="en-US" sz="1350" dirty="0"/>
          </a:p>
        </p:txBody>
      </p:sp>
      <p:sp>
        <p:nvSpPr>
          <p:cNvPr id="5" name="Text 3"/>
          <p:cNvSpPr/>
          <p:nvPr/>
        </p:nvSpPr>
        <p:spPr>
          <a:xfrm>
            <a:off x="1226214" y="2532559"/>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Optimized Crop Irrigation</a:t>
            </a:r>
            <a:endParaRPr lang="en-US" sz="1700" dirty="0"/>
          </a:p>
        </p:txBody>
      </p:sp>
      <p:sp>
        <p:nvSpPr>
          <p:cNvPr id="6" name="Text 4"/>
          <p:cNvSpPr/>
          <p:nvPr/>
        </p:nvSpPr>
        <p:spPr>
          <a:xfrm>
            <a:off x="1226214" y="2909094"/>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Optimizes crop irrigation based on actual soil conditions, enhancing agricultural productivity and crop yield.</a:t>
            </a:r>
            <a:endParaRPr lang="en-US" sz="1350" dirty="0"/>
          </a:p>
        </p:txBody>
      </p:sp>
      <p:sp>
        <p:nvSpPr>
          <p:cNvPr id="7" name="Text 5"/>
          <p:cNvSpPr/>
          <p:nvPr/>
        </p:nvSpPr>
        <p:spPr>
          <a:xfrm>
            <a:off x="1226214" y="3576737"/>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Reduced Labor</a:t>
            </a:r>
            <a:endParaRPr lang="en-US" sz="1700" dirty="0"/>
          </a:p>
        </p:txBody>
      </p:sp>
      <p:sp>
        <p:nvSpPr>
          <p:cNvPr id="8" name="Text 6"/>
          <p:cNvSpPr/>
          <p:nvPr/>
        </p:nvSpPr>
        <p:spPr>
          <a:xfrm>
            <a:off x="1226214" y="3953272"/>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Reduces manual effort and labor requirements by providing automated irrigation control without human intervention.</a:t>
            </a:r>
            <a:endParaRPr lang="en-US" sz="1350" dirty="0"/>
          </a:p>
        </p:txBody>
      </p:sp>
      <p:sp>
        <p:nvSpPr>
          <p:cNvPr id="9" name="Text 7"/>
          <p:cNvSpPr/>
          <p:nvPr/>
        </p:nvSpPr>
        <p:spPr>
          <a:xfrm>
            <a:off x="1226214" y="4620915"/>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Remote Management</a:t>
            </a:r>
            <a:endParaRPr lang="en-US" sz="1700" dirty="0"/>
          </a:p>
        </p:txBody>
      </p:sp>
      <p:sp>
        <p:nvSpPr>
          <p:cNvPr id="10" name="Text 8"/>
          <p:cNvSpPr/>
          <p:nvPr/>
        </p:nvSpPr>
        <p:spPr>
          <a:xfrm>
            <a:off x="1226214" y="4997450"/>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Enables real-time monitoring of field conditions and helps farmers monitor and manage operations remotely.</a:t>
            </a:r>
            <a:endParaRPr lang="en-US" sz="1350" dirty="0"/>
          </a:p>
        </p:txBody>
      </p:sp>
      <p:sp>
        <p:nvSpPr>
          <p:cNvPr id="11" name="Text 9"/>
          <p:cNvSpPr/>
          <p:nvPr/>
        </p:nvSpPr>
        <p:spPr>
          <a:xfrm>
            <a:off x="1226214" y="5665093"/>
            <a:ext cx="10304006" cy="276920"/>
          </a:xfrm>
          <a:prstGeom prst="rect">
            <a:avLst/>
          </a:prstGeom>
          <a:noFill/>
          <a:ln/>
        </p:spPr>
        <p:txBody>
          <a:bodyPr wrap="none" lIns="0" tIns="0" rIns="0" bIns="0" rtlCol="0" anchor="t"/>
          <a:lstStyle/>
          <a:p>
            <a:pPr marL="0" indent="0" algn="l">
              <a:lnSpc>
                <a:spcPct val="104000"/>
              </a:lnSpc>
              <a:buNone/>
            </a:pPr>
            <a:r>
              <a:rPr lang="en-US" sz="1700" dirty="0">
                <a:solidFill>
                  <a:srgbClr val="405449"/>
                </a:solidFill>
                <a:latin typeface="Fraunces ExtraBold" pitchFamily="34" charset="0"/>
                <a:ea typeface="Fraunces ExtraBold" pitchFamily="34" charset="-122"/>
                <a:cs typeface="Fraunces ExtraBold" pitchFamily="34" charset="-120"/>
              </a:rPr>
              <a:t>Sustainable Farming</a:t>
            </a:r>
            <a:endParaRPr lang="en-US" sz="1700" dirty="0"/>
          </a:p>
        </p:txBody>
      </p:sp>
      <p:sp>
        <p:nvSpPr>
          <p:cNvPr id="12" name="Text 10"/>
          <p:cNvSpPr/>
          <p:nvPr/>
        </p:nvSpPr>
        <p:spPr>
          <a:xfrm>
            <a:off x="1226214" y="6041628"/>
            <a:ext cx="10304006" cy="274638"/>
          </a:xfrm>
          <a:prstGeom prst="rect">
            <a:avLst/>
          </a:prstGeom>
          <a:noFill/>
          <a:ln/>
        </p:spPr>
        <p:txBody>
          <a:bodyPr wrap="none" lIns="0" tIns="0" rIns="0" bIns="0" rtlCol="0" anchor="t"/>
          <a:lstStyle/>
          <a:p>
            <a:pPr marL="0" indent="0" algn="l">
              <a:lnSpc>
                <a:spcPct val="129000"/>
              </a:lnSpc>
              <a:buNone/>
            </a:pPr>
            <a:r>
              <a:rPr lang="en-US" sz="1350" dirty="0">
                <a:solidFill>
                  <a:srgbClr val="405449"/>
                </a:solidFill>
                <a:latin typeface="Nobile" pitchFamily="34" charset="0"/>
                <a:ea typeface="Nobile" pitchFamily="34" charset="-122"/>
                <a:cs typeface="Nobile" pitchFamily="34" charset="-120"/>
              </a:rPr>
              <a:t>Supports efficient water management practices and promotes sustainable farming for long-term agricultural health.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69429"/>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3B4540"/>
                </a:solidFill>
                <a:latin typeface="Fraunces ExtraBold" pitchFamily="34" charset="0"/>
                <a:ea typeface="Fraunces ExtraBold" pitchFamily="34" charset="-122"/>
                <a:cs typeface="Fraunces ExtraBold" pitchFamily="34" charset="-120"/>
              </a:rPr>
              <a:t>Applications and Scalability</a:t>
            </a:r>
            <a:endParaRPr lang="en-US" sz="2700" dirty="0"/>
          </a:p>
        </p:txBody>
      </p:sp>
      <p:sp>
        <p:nvSpPr>
          <p:cNvPr id="3" name="Text 1"/>
          <p:cNvSpPr/>
          <p:nvPr/>
        </p:nvSpPr>
        <p:spPr>
          <a:xfrm>
            <a:off x="661475" y="2117923"/>
            <a:ext cx="6946131" cy="216892"/>
          </a:xfrm>
          <a:prstGeom prst="rect">
            <a:avLst/>
          </a:prstGeom>
          <a:noFill/>
          <a:ln/>
        </p:spPr>
        <p:txBody>
          <a:bodyPr wrap="none" lIns="0" tIns="0" rIns="0" bIns="0" rtlCol="0" anchor="t"/>
          <a:lstStyle/>
          <a:p>
            <a:pPr marL="0" indent="0" algn="l">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Applications</a:t>
            </a:r>
            <a:endParaRPr lang="en-US" sz="1350" dirty="0"/>
          </a:p>
        </p:txBody>
      </p:sp>
      <p:pic>
        <p:nvPicPr>
          <p:cNvPr id="4" name="Image 0" descr="preencoded.png"/>
          <p:cNvPicPr>
            <a:picLocks noChangeAspect="1"/>
          </p:cNvPicPr>
          <p:nvPr/>
        </p:nvPicPr>
        <p:blipFill>
          <a:blip r:embed="rId3"/>
          <a:stretch>
            <a:fillRect/>
          </a:stretch>
        </p:blipFill>
        <p:spPr>
          <a:xfrm>
            <a:off x="661475" y="2449413"/>
            <a:ext cx="490624" cy="490637"/>
          </a:xfrm>
          <a:prstGeom prst="rect">
            <a:avLst/>
          </a:prstGeom>
        </p:spPr>
      </p:pic>
      <p:sp>
        <p:nvSpPr>
          <p:cNvPr id="5" name="Text 2"/>
          <p:cNvSpPr/>
          <p:nvPr/>
        </p:nvSpPr>
        <p:spPr>
          <a:xfrm>
            <a:off x="1279493" y="2449413"/>
            <a:ext cx="1612364" cy="43378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Agriculture &amp; Crop Farming</a:t>
            </a:r>
            <a:endParaRPr lang="en-US" sz="1350" dirty="0"/>
          </a:p>
        </p:txBody>
      </p:sp>
      <p:sp>
        <p:nvSpPr>
          <p:cNvPr id="6" name="Text 3"/>
          <p:cNvSpPr/>
          <p:nvPr/>
        </p:nvSpPr>
        <p:spPr>
          <a:xfrm>
            <a:off x="1279493" y="2985095"/>
            <a:ext cx="1612364"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Large-scale field crops and precision agriculture</a:t>
            </a:r>
            <a:endParaRPr lang="en-US" sz="1050" dirty="0"/>
          </a:p>
        </p:txBody>
      </p:sp>
      <p:pic>
        <p:nvPicPr>
          <p:cNvPr id="7" name="Image 1" descr="preencoded.png"/>
          <p:cNvPicPr>
            <a:picLocks noChangeAspect="1"/>
          </p:cNvPicPr>
          <p:nvPr/>
        </p:nvPicPr>
        <p:blipFill>
          <a:blip r:embed="rId4"/>
          <a:stretch>
            <a:fillRect/>
          </a:stretch>
        </p:blipFill>
        <p:spPr>
          <a:xfrm>
            <a:off x="3019250" y="2449413"/>
            <a:ext cx="490624" cy="490637"/>
          </a:xfrm>
          <a:prstGeom prst="rect">
            <a:avLst/>
          </a:prstGeom>
        </p:spPr>
      </p:pic>
      <p:sp>
        <p:nvSpPr>
          <p:cNvPr id="8" name="Text 4"/>
          <p:cNvSpPr/>
          <p:nvPr/>
        </p:nvSpPr>
        <p:spPr>
          <a:xfrm>
            <a:off x="3637268" y="2449413"/>
            <a:ext cx="1612463" cy="650677"/>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Greenhouses &amp; Controlled Environments</a:t>
            </a:r>
            <a:endParaRPr lang="en-US" sz="1350" dirty="0"/>
          </a:p>
        </p:txBody>
      </p:sp>
      <p:sp>
        <p:nvSpPr>
          <p:cNvPr id="9" name="Text 5"/>
          <p:cNvSpPr/>
          <p:nvPr/>
        </p:nvSpPr>
        <p:spPr>
          <a:xfrm>
            <a:off x="3637268" y="3201988"/>
            <a:ext cx="1612463"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Precise climate and moisture control for protected cultivation</a:t>
            </a:r>
            <a:endParaRPr lang="en-US" sz="1050" dirty="0"/>
          </a:p>
        </p:txBody>
      </p:sp>
      <p:pic>
        <p:nvPicPr>
          <p:cNvPr id="10" name="Image 2" descr="preencoded.png"/>
          <p:cNvPicPr>
            <a:picLocks noChangeAspect="1"/>
          </p:cNvPicPr>
          <p:nvPr/>
        </p:nvPicPr>
        <p:blipFill>
          <a:blip r:embed="rId5"/>
          <a:stretch>
            <a:fillRect/>
          </a:stretch>
        </p:blipFill>
        <p:spPr>
          <a:xfrm>
            <a:off x="5377125" y="2449413"/>
            <a:ext cx="490624" cy="490637"/>
          </a:xfrm>
          <a:prstGeom prst="rect">
            <a:avLst/>
          </a:prstGeom>
        </p:spPr>
      </p:pic>
      <p:sp>
        <p:nvSpPr>
          <p:cNvPr id="11" name="Text 6"/>
          <p:cNvSpPr/>
          <p:nvPr/>
        </p:nvSpPr>
        <p:spPr>
          <a:xfrm>
            <a:off x="5995143" y="2449413"/>
            <a:ext cx="1612463" cy="433784"/>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Gardens &amp; Landscaping</a:t>
            </a:r>
            <a:endParaRPr lang="en-US" sz="1350" dirty="0"/>
          </a:p>
        </p:txBody>
      </p:sp>
      <p:sp>
        <p:nvSpPr>
          <p:cNvPr id="12" name="Text 7"/>
          <p:cNvSpPr/>
          <p:nvPr/>
        </p:nvSpPr>
        <p:spPr>
          <a:xfrm>
            <a:off x="5995143" y="2985095"/>
            <a:ext cx="1612463" cy="770334"/>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Efficient water management for ornamental and residential use</a:t>
            </a:r>
            <a:endParaRPr lang="en-US" sz="1050" dirty="0"/>
          </a:p>
        </p:txBody>
      </p:sp>
      <p:pic>
        <p:nvPicPr>
          <p:cNvPr id="13" name="Image 3" descr="preencoded.png"/>
          <p:cNvPicPr>
            <a:picLocks noChangeAspect="1"/>
          </p:cNvPicPr>
          <p:nvPr/>
        </p:nvPicPr>
        <p:blipFill>
          <a:blip r:embed="rId6"/>
          <a:stretch>
            <a:fillRect/>
          </a:stretch>
        </p:blipFill>
        <p:spPr>
          <a:xfrm>
            <a:off x="661475" y="3983534"/>
            <a:ext cx="490624" cy="490637"/>
          </a:xfrm>
          <a:prstGeom prst="rect">
            <a:avLst/>
          </a:prstGeom>
        </p:spPr>
      </p:pic>
      <p:sp>
        <p:nvSpPr>
          <p:cNvPr id="14" name="Text 8"/>
          <p:cNvSpPr/>
          <p:nvPr/>
        </p:nvSpPr>
        <p:spPr>
          <a:xfrm>
            <a:off x="1279493" y="3983534"/>
            <a:ext cx="1612364" cy="650677"/>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Research &amp; Experimental Farms</a:t>
            </a:r>
            <a:endParaRPr lang="en-US" sz="1350" dirty="0"/>
          </a:p>
        </p:txBody>
      </p:sp>
      <p:sp>
        <p:nvSpPr>
          <p:cNvPr id="15" name="Text 9"/>
          <p:cNvSpPr/>
          <p:nvPr/>
        </p:nvSpPr>
        <p:spPr>
          <a:xfrm>
            <a:off x="1279493" y="4736108"/>
            <a:ext cx="1612364"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Controlled irrigation for scientific study and smart farming trials</a:t>
            </a:r>
            <a:endParaRPr lang="en-US" sz="1050" dirty="0"/>
          </a:p>
        </p:txBody>
      </p:sp>
      <p:sp>
        <p:nvSpPr>
          <p:cNvPr id="16" name="Text 10"/>
          <p:cNvSpPr/>
          <p:nvPr/>
        </p:nvSpPr>
        <p:spPr>
          <a:xfrm>
            <a:off x="7952482" y="1358007"/>
            <a:ext cx="3583989" cy="216892"/>
          </a:xfrm>
          <a:prstGeom prst="rect">
            <a:avLst/>
          </a:prstGeom>
          <a:noFill/>
          <a:ln/>
        </p:spPr>
        <p:txBody>
          <a:bodyPr wrap="none" lIns="0" tIns="0" rIns="0" bIns="0" rtlCol="0" anchor="t"/>
          <a:lstStyle/>
          <a:p>
            <a:pPr marL="0" indent="0" algn="l">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Scalability</a:t>
            </a:r>
            <a:endParaRPr lang="en-US" sz="13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1689497"/>
            <a:ext cx="3583989" cy="1019671"/>
          </a:xfrm>
          <a:prstGeom prst="rect">
            <a:avLst/>
          </a:prstGeom>
        </p:spPr>
      </p:pic>
      <p:sp>
        <p:nvSpPr>
          <p:cNvPr id="18" name="Text 11"/>
          <p:cNvSpPr/>
          <p:nvPr/>
        </p:nvSpPr>
        <p:spPr>
          <a:xfrm>
            <a:off x="8186533" y="1847354"/>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Adaptable Environments</a:t>
            </a:r>
            <a:endParaRPr lang="en-US" sz="1350" dirty="0"/>
          </a:p>
        </p:txBody>
      </p:sp>
      <p:sp>
        <p:nvSpPr>
          <p:cNvPr id="19" name="Text 12"/>
          <p:cNvSpPr/>
          <p:nvPr/>
        </p:nvSpPr>
        <p:spPr>
          <a:xfrm>
            <a:off x="8186533" y="2166144"/>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be adapted to different agricultural environments and crop types</a:t>
            </a:r>
            <a:endParaRPr lang="en-US" sz="10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2811066"/>
            <a:ext cx="3583989" cy="1019671"/>
          </a:xfrm>
          <a:prstGeom prst="rect">
            <a:avLst/>
          </a:prstGeom>
        </p:spPr>
      </p:pic>
      <p:sp>
        <p:nvSpPr>
          <p:cNvPr id="21" name="Text 13"/>
          <p:cNvSpPr/>
          <p:nvPr/>
        </p:nvSpPr>
        <p:spPr>
          <a:xfrm>
            <a:off x="8186533" y="2968923"/>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Multi-Sensor Support</a:t>
            </a:r>
            <a:endParaRPr lang="en-US" sz="1350" dirty="0"/>
          </a:p>
        </p:txBody>
      </p:sp>
      <p:sp>
        <p:nvSpPr>
          <p:cNvPr id="22" name="Text 14"/>
          <p:cNvSpPr/>
          <p:nvPr/>
        </p:nvSpPr>
        <p:spPr>
          <a:xfrm>
            <a:off x="8186533" y="3287713"/>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support monitoring of multiple field conditions through connected sensors</a:t>
            </a:r>
            <a:endParaRPr lang="en-US" sz="1050" dirty="0"/>
          </a:p>
        </p:txBody>
      </p:sp>
      <p:pic>
        <p:nvPicPr>
          <p:cNvPr id="23"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3932634"/>
            <a:ext cx="3583989" cy="1019671"/>
          </a:xfrm>
          <a:prstGeom prst="rect">
            <a:avLst/>
          </a:prstGeom>
        </p:spPr>
      </p:pic>
      <p:sp>
        <p:nvSpPr>
          <p:cNvPr id="24" name="Text 15"/>
          <p:cNvSpPr/>
          <p:nvPr/>
        </p:nvSpPr>
        <p:spPr>
          <a:xfrm>
            <a:off x="8186533" y="4090491"/>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Multi-Location Integration</a:t>
            </a:r>
            <a:endParaRPr lang="en-US" sz="1350" dirty="0"/>
          </a:p>
        </p:txBody>
      </p:sp>
      <p:sp>
        <p:nvSpPr>
          <p:cNvPr id="25" name="Text 16"/>
          <p:cNvSpPr/>
          <p:nvPr/>
        </p:nvSpPr>
        <p:spPr>
          <a:xfrm>
            <a:off x="8186533" y="4409281"/>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Can integrate automated irrigation control with centralized monitoring across multiple locations</a:t>
            </a:r>
            <a:endParaRPr lang="en-US" sz="1050" dirty="0"/>
          </a:p>
        </p:txBody>
      </p:sp>
      <p:pic>
        <p:nvPicPr>
          <p:cNvPr id="26"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52482" y="5054203"/>
            <a:ext cx="3583989" cy="1019671"/>
          </a:xfrm>
          <a:prstGeom prst="rect">
            <a:avLst/>
          </a:prstGeom>
        </p:spPr>
      </p:pic>
      <p:sp>
        <p:nvSpPr>
          <p:cNvPr id="27" name="Text 17"/>
          <p:cNvSpPr/>
          <p:nvPr/>
        </p:nvSpPr>
        <p:spPr>
          <a:xfrm>
            <a:off x="8186533" y="5212060"/>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Smart Farming Foundation</a:t>
            </a:r>
            <a:endParaRPr lang="en-US" sz="1350" dirty="0"/>
          </a:p>
        </p:txBody>
      </p:sp>
      <p:sp>
        <p:nvSpPr>
          <p:cNvPr id="28" name="Text 18"/>
          <p:cNvSpPr/>
          <p:nvPr/>
        </p:nvSpPr>
        <p:spPr>
          <a:xfrm>
            <a:off x="8186533" y="5530850"/>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05449"/>
                </a:solidFill>
                <a:latin typeface="Nobile" pitchFamily="34" charset="0"/>
                <a:ea typeface="Nobile" pitchFamily="34" charset="-122"/>
                <a:cs typeface="Nobile" pitchFamily="34" charset="-120"/>
              </a:rPr>
              <a:t>Provides a foundation for scalable smart farming solutions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76870"/>
            <a:ext cx="6296860" cy="959842"/>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3B4540"/>
                </a:solidFill>
                <a:latin typeface="Fraunces ExtraBold" pitchFamily="34" charset="0"/>
                <a:ea typeface="Fraunces ExtraBold" pitchFamily="34" charset="-122"/>
                <a:cs typeface="Fraunces ExtraBold" pitchFamily="34" charset="-120"/>
              </a:rPr>
              <a:t>Conclusion and Future Perspective</a:t>
            </a:r>
            <a:endParaRPr lang="en-US" sz="3000" dirty="0"/>
          </a:p>
        </p:txBody>
      </p:sp>
      <p:sp>
        <p:nvSpPr>
          <p:cNvPr id="4" name="Text 1"/>
          <p:cNvSpPr/>
          <p:nvPr/>
        </p:nvSpPr>
        <p:spPr>
          <a:xfrm>
            <a:off x="5233360" y="1948557"/>
            <a:ext cx="2961110" cy="239911"/>
          </a:xfrm>
          <a:prstGeom prst="rect">
            <a:avLst/>
          </a:prstGeom>
          <a:noFill/>
          <a:ln/>
        </p:spPr>
        <p:txBody>
          <a:bodyPr wrap="none" lIns="0" tIns="0" rIns="0" bIns="0" rtlCol="0" anchor="t"/>
          <a:lstStyle/>
          <a:p>
            <a:pPr marL="0" indent="0" algn="l">
              <a:lnSpc>
                <a:spcPct val="104000"/>
              </a:lnSpc>
              <a:buNone/>
            </a:pPr>
            <a:r>
              <a:rPr lang="en-US" sz="1500" dirty="0">
                <a:solidFill>
                  <a:srgbClr val="3B4540"/>
                </a:solidFill>
                <a:latin typeface="Fraunces ExtraBold" pitchFamily="34" charset="0"/>
                <a:ea typeface="Fraunces ExtraBold" pitchFamily="34" charset="-122"/>
                <a:cs typeface="Fraunces ExtraBold" pitchFamily="34" charset="-120"/>
              </a:rPr>
              <a:t>Project Summary</a:t>
            </a:r>
            <a:endParaRPr lang="en-US" sz="1500" dirty="0"/>
          </a:p>
        </p:txBody>
      </p:sp>
      <p:sp>
        <p:nvSpPr>
          <p:cNvPr id="5" name="Text 2"/>
          <p:cNvSpPr/>
          <p:nvPr/>
        </p:nvSpPr>
        <p:spPr>
          <a:xfrm>
            <a:off x="5233360" y="2313186"/>
            <a:ext cx="2961110" cy="3824288"/>
          </a:xfrm>
          <a:prstGeom prst="rect">
            <a:avLst/>
          </a:prstGeom>
          <a:noFill/>
          <a:ln/>
        </p:spPr>
        <p:txBody>
          <a:bodyPr wrap="square" lIns="0" tIns="61431" rIns="0" bIns="0" rtlCol="0" anchor="t">
            <a:normAutofit/>
          </a:bodyPr>
          <a:lstStyle/>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The system provides intelligent and automated irrigation management</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Soil moisture monitoring enables irrigation based on actual field conditions</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IoT communication supports real-time monitoring and remote control</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Automated pumps reduce unnecessary manual intervention</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Environmental data and irrigation reports support better monitoring</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The system improves water conservation and crop irrigation efficiency</a:t>
            </a:r>
            <a:endParaRPr lang="en-US" sz="1200" dirty="0"/>
          </a:p>
          <a:p>
            <a:pPr marL="243840" indent="-243840" algn="l">
              <a:lnSpc>
                <a:spcPct val="121000"/>
              </a:lnSpc>
              <a:buSzPct val="100000"/>
              <a:buChar char="•"/>
            </a:pPr>
            <a:r>
              <a:rPr lang="en-US" sz="1200" dirty="0">
                <a:solidFill>
                  <a:srgbClr val="405449"/>
                </a:solidFill>
                <a:latin typeface="Nobile" pitchFamily="34" charset="0"/>
                <a:ea typeface="Nobile" pitchFamily="34" charset="-122"/>
                <a:cs typeface="Nobile" pitchFamily="34" charset="-120"/>
              </a:rPr>
              <a:t>It enhances agricultural productivity and supports sustainable farming</a:t>
            </a:r>
            <a:endParaRPr lang="en-US" sz="1200" dirty="0"/>
          </a:p>
        </p:txBody>
      </p:sp>
      <p:sp>
        <p:nvSpPr>
          <p:cNvPr id="6" name="Shape 3"/>
          <p:cNvSpPr/>
          <p:nvPr/>
        </p:nvSpPr>
        <p:spPr>
          <a:xfrm>
            <a:off x="8464834" y="1823839"/>
            <a:ext cx="3182362" cy="4357291"/>
          </a:xfrm>
          <a:prstGeom prst="roundRect">
            <a:avLst>
              <a:gd name="adj" fmla="val 6949"/>
            </a:avLst>
          </a:prstGeom>
          <a:solidFill>
            <a:srgbClr val="438951"/>
          </a:solidFill>
          <a:ln/>
        </p:spPr>
      </p:sp>
      <p:sp>
        <p:nvSpPr>
          <p:cNvPr id="7" name="Text 4"/>
          <p:cNvSpPr/>
          <p:nvPr/>
        </p:nvSpPr>
        <p:spPr>
          <a:xfrm>
            <a:off x="8618322" y="1948557"/>
            <a:ext cx="2875387" cy="23991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Fraunces ExtraBold" pitchFamily="34" charset="0"/>
                <a:ea typeface="Fraunces ExtraBold" pitchFamily="34" charset="-122"/>
                <a:cs typeface="Fraunces ExtraBold" pitchFamily="34" charset="-120"/>
              </a:rPr>
              <a:t>Key Objective</a:t>
            </a:r>
            <a:endParaRPr lang="en-US" sz="1500" dirty="0"/>
          </a:p>
        </p:txBody>
      </p:sp>
      <p:sp>
        <p:nvSpPr>
          <p:cNvPr id="8" name="Text 5"/>
          <p:cNvSpPr/>
          <p:nvPr/>
        </p:nvSpPr>
        <p:spPr>
          <a:xfrm>
            <a:off x="8618322" y="2313186"/>
            <a:ext cx="2875387" cy="1113234"/>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000000"/>
                </a:solidFill>
                <a:latin typeface="Nobile" pitchFamily="34" charset="0"/>
                <a:ea typeface="Nobile" pitchFamily="34" charset="-122"/>
                <a:cs typeface="Nobile" pitchFamily="34" charset="-120"/>
              </a:rPr>
              <a:t>To deliver a modern, intelligent, and sustainable irrigation management solution that optimizes water usage while improving agricultural productivity.</a:t>
            </a:r>
            <a:endParaRPr lang="en-US" sz="1200" dirty="0"/>
          </a:p>
        </p:txBody>
      </p:sp>
      <p:sp>
        <p:nvSpPr>
          <p:cNvPr id="9" name="Shape 6"/>
          <p:cNvSpPr/>
          <p:nvPr/>
        </p:nvSpPr>
        <p:spPr>
          <a:xfrm>
            <a:off x="8618322" y="3566716"/>
            <a:ext cx="1392302" cy="233263"/>
          </a:xfrm>
          <a:prstGeom prst="roundRect">
            <a:avLst>
              <a:gd name="adj" fmla="val 47404"/>
            </a:avLst>
          </a:prstGeom>
          <a:solidFill>
            <a:srgbClr val="19331E"/>
          </a:solidFill>
          <a:ln/>
        </p:spPr>
      </p:sp>
      <p:sp>
        <p:nvSpPr>
          <p:cNvPr id="10" name="Text 7"/>
          <p:cNvSpPr/>
          <p:nvPr/>
        </p:nvSpPr>
        <p:spPr>
          <a:xfrm>
            <a:off x="8710395" y="3612753"/>
            <a:ext cx="1817741"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SMART IRRIGATION</a:t>
            </a:r>
            <a:endParaRPr lang="en-US" sz="950" dirty="0"/>
          </a:p>
        </p:txBody>
      </p:sp>
      <p:sp>
        <p:nvSpPr>
          <p:cNvPr id="11" name="Shape 8"/>
          <p:cNvSpPr/>
          <p:nvPr/>
        </p:nvSpPr>
        <p:spPr>
          <a:xfrm>
            <a:off x="10087318" y="3566716"/>
            <a:ext cx="1256376" cy="233263"/>
          </a:xfrm>
          <a:prstGeom prst="roundRect">
            <a:avLst>
              <a:gd name="adj" fmla="val 47404"/>
            </a:avLst>
          </a:prstGeom>
          <a:solidFill>
            <a:srgbClr val="19331E"/>
          </a:solidFill>
          <a:ln/>
        </p:spPr>
      </p:sp>
      <p:sp>
        <p:nvSpPr>
          <p:cNvPr id="12" name="Text 9"/>
          <p:cNvSpPr/>
          <p:nvPr/>
        </p:nvSpPr>
        <p:spPr>
          <a:xfrm>
            <a:off x="10179391" y="3612753"/>
            <a:ext cx="1681815"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IOT TECHNOLOGY</a:t>
            </a:r>
            <a:endParaRPr lang="en-US" sz="950" dirty="0"/>
          </a:p>
        </p:txBody>
      </p:sp>
      <p:sp>
        <p:nvSpPr>
          <p:cNvPr id="13" name="Shape 10"/>
          <p:cNvSpPr/>
          <p:nvPr/>
        </p:nvSpPr>
        <p:spPr>
          <a:xfrm>
            <a:off x="8618322" y="3876675"/>
            <a:ext cx="1656812" cy="233263"/>
          </a:xfrm>
          <a:prstGeom prst="roundRect">
            <a:avLst>
              <a:gd name="adj" fmla="val 47404"/>
            </a:avLst>
          </a:prstGeom>
          <a:solidFill>
            <a:srgbClr val="19331E"/>
          </a:solidFill>
          <a:ln/>
        </p:spPr>
      </p:sp>
      <p:sp>
        <p:nvSpPr>
          <p:cNvPr id="14" name="Text 11"/>
          <p:cNvSpPr/>
          <p:nvPr/>
        </p:nvSpPr>
        <p:spPr>
          <a:xfrm>
            <a:off x="8710395" y="3922713"/>
            <a:ext cx="2082252" cy="141188"/>
          </a:xfrm>
          <a:prstGeom prst="rect">
            <a:avLst/>
          </a:prstGeom>
          <a:noFill/>
          <a:ln/>
        </p:spPr>
        <p:txBody>
          <a:bodyPr wrap="none" lIns="0" tIns="0" rIns="0" bIns="0" rtlCol="0" anchor="t"/>
          <a:lstStyle/>
          <a:p>
            <a:pPr marL="0" indent="0" algn="l">
              <a:lnSpc>
                <a:spcPct val="96000"/>
              </a:lnSpc>
              <a:buNone/>
            </a:pPr>
            <a:r>
              <a:rPr lang="en-US" sz="950" dirty="0">
                <a:solidFill>
                  <a:srgbClr val="405449"/>
                </a:solidFill>
                <a:latin typeface="Nobile" pitchFamily="34" charset="0"/>
                <a:ea typeface="Nobile" pitchFamily="34" charset="-122"/>
                <a:cs typeface="Nobile" pitchFamily="34" charset="-120"/>
              </a:rPr>
              <a:t>SUSTAINABLE FARMING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793</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Fraunces ExtraBold</vt:lpstr>
      <vt:lpstr>Nobile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lohit</dc:creator>
  <cp:lastModifiedBy>lohitha.gudla@hotmail.com</cp:lastModifiedBy>
  <cp:revision>2</cp:revision>
  <dcterms:created xsi:type="dcterms:W3CDTF">2026-08-19T05:36:34Z</dcterms:created>
  <dcterms:modified xsi:type="dcterms:W3CDTF">2026-10-07T05:25:51Z</dcterms:modified>
</cp:coreProperties>
</file>